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03094" y="268114"/>
            <a:ext cx="928181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rgbClr val="5353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1654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rgbClr val="5353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1654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rgbClr val="5353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rgbClr val="5353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072" y="57570"/>
            <a:ext cx="13568568" cy="1897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rgbClr val="5353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9558" y="2535612"/>
            <a:ext cx="15502255" cy="535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1654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0431" y="2375589"/>
            <a:ext cx="13047344" cy="413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1415"/>
              </a:lnSpc>
              <a:spcBef>
                <a:spcPts val="135"/>
              </a:spcBef>
            </a:pPr>
            <a:r>
              <a:rPr sz="11150" dirty="0">
                <a:solidFill>
                  <a:srgbClr val="535353"/>
                </a:solidFill>
                <a:latin typeface="Times New Roman"/>
                <a:cs typeface="Times New Roman"/>
              </a:rPr>
              <a:t>BODY</a:t>
            </a:r>
            <a:r>
              <a:rPr sz="11150" spc="-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1150" dirty="0">
                <a:solidFill>
                  <a:srgbClr val="535353"/>
                </a:solidFill>
                <a:latin typeface="Times New Roman"/>
                <a:cs typeface="Times New Roman"/>
              </a:rPr>
              <a:t>MASS</a:t>
            </a:r>
            <a:r>
              <a:rPr sz="11150" spc="-1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11150" spc="-20" dirty="0">
                <a:solidFill>
                  <a:srgbClr val="535353"/>
                </a:solidFill>
                <a:latin typeface="Times New Roman"/>
                <a:cs typeface="Times New Roman"/>
              </a:rPr>
              <a:t>INDEX</a:t>
            </a:r>
            <a:endParaRPr sz="11150">
              <a:latin typeface="Times New Roman"/>
              <a:cs typeface="Times New Roman"/>
            </a:endParaRPr>
          </a:p>
          <a:p>
            <a:pPr marL="1926589" marR="1564005" indent="2781300">
              <a:lnSpc>
                <a:spcPct val="70600"/>
              </a:lnSpc>
              <a:spcBef>
                <a:spcPts val="1970"/>
              </a:spcBef>
            </a:pPr>
            <a:r>
              <a:rPr sz="11150" spc="-10" dirty="0">
                <a:solidFill>
                  <a:srgbClr val="535353"/>
                </a:solidFill>
                <a:latin typeface="Times New Roman"/>
                <a:cs typeface="Times New Roman"/>
              </a:rPr>
              <a:t>(BMI) CALCULATOR</a:t>
            </a:r>
            <a:endParaRPr sz="1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9230" y="6482958"/>
            <a:ext cx="752983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spc="305" dirty="0">
                <a:solidFill>
                  <a:srgbClr val="61654D"/>
                </a:solidFill>
                <a:latin typeface="Times New Roman"/>
                <a:cs typeface="Times New Roman"/>
              </a:rPr>
              <a:t>AMEENUDEEN</a:t>
            </a:r>
            <a:r>
              <a:rPr sz="405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4050" spc="20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4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4050" dirty="0">
                <a:solidFill>
                  <a:srgbClr val="61654D"/>
                </a:solidFill>
                <a:latin typeface="Times New Roman"/>
                <a:cs typeface="Times New Roman"/>
              </a:rPr>
              <a:t>-</a:t>
            </a:r>
            <a:r>
              <a:rPr sz="405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4050" spc="85" dirty="0">
                <a:solidFill>
                  <a:srgbClr val="61654D"/>
                </a:solidFill>
                <a:latin typeface="Times New Roman"/>
                <a:cs typeface="Times New Roman"/>
              </a:rPr>
              <a:t>24MCA002</a:t>
            </a:r>
            <a:endParaRPr sz="40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8139" y="325085"/>
            <a:ext cx="445198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7159" y="1940902"/>
            <a:ext cx="15354300" cy="749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BMI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(Body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535353"/>
                </a:solidFill>
                <a:latin typeface="Times New Roman"/>
                <a:cs typeface="Times New Roman"/>
              </a:rPr>
              <a:t>Mass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Index)</a:t>
            </a:r>
            <a:r>
              <a:rPr sz="3000" spc="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Calculator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project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is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535353"/>
                </a:solidFill>
                <a:latin typeface="Times New Roman"/>
                <a:cs typeface="Times New Roman"/>
              </a:rPr>
              <a:t>a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535353"/>
                </a:solidFill>
                <a:latin typeface="Times New Roman"/>
                <a:cs typeface="Times New Roman"/>
              </a:rPr>
              <a:t>web-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based</a:t>
            </a:r>
            <a:r>
              <a:rPr sz="3000" spc="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application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developed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using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the </a:t>
            </a:r>
            <a:r>
              <a:rPr sz="3000" spc="254" dirty="0">
                <a:solidFill>
                  <a:srgbClr val="535353"/>
                </a:solidFill>
                <a:latin typeface="Times New Roman"/>
                <a:cs typeface="Times New Roman"/>
              </a:rPr>
              <a:t>MERN</a:t>
            </a:r>
            <a:r>
              <a:rPr sz="3000" spc="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stack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—</a:t>
            </a:r>
            <a:r>
              <a:rPr sz="3000" spc="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MongoDB,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Express.js,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React.js,</a:t>
            </a:r>
            <a:r>
              <a:rPr sz="3000" spc="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Node.js.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primary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goal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of</a:t>
            </a:r>
            <a:r>
              <a:rPr sz="3000" spc="44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this</a:t>
            </a:r>
            <a:r>
              <a:rPr sz="3000" spc="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project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is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to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help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users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easily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calculate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their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BMI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assess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their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body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weight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category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based</a:t>
            </a:r>
            <a:r>
              <a:rPr sz="3000" spc="62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on standard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health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guidelines.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system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allows</a:t>
            </a:r>
            <a:r>
              <a:rPr sz="3000" spc="4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users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to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input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their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height</a:t>
            </a:r>
            <a:r>
              <a:rPr sz="3000" spc="4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weight,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it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dynamically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computes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BMI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value,</a:t>
            </a:r>
            <a:r>
              <a:rPr sz="3000" spc="43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categorizing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it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as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underweight,</a:t>
            </a:r>
            <a:r>
              <a:rPr sz="3000" spc="43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normal,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overweight,</a:t>
            </a:r>
            <a:r>
              <a:rPr sz="3000" spc="4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or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obese.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application’s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frontend,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built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with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React.js,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provides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interactive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2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user-</a:t>
            </a:r>
            <a:r>
              <a:rPr sz="3000" spc="-10" dirty="0">
                <a:solidFill>
                  <a:srgbClr val="535353"/>
                </a:solidFill>
                <a:latin typeface="Times New Roman"/>
                <a:cs typeface="Times New Roman"/>
              </a:rPr>
              <a:t>friendly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interface,</a:t>
            </a:r>
            <a:r>
              <a:rPr sz="3000" spc="26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ensuring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160" dirty="0">
                <a:solidFill>
                  <a:srgbClr val="535353"/>
                </a:solidFill>
                <a:latin typeface="Times New Roman"/>
                <a:cs typeface="Times New Roman"/>
              </a:rPr>
              <a:t>a</a:t>
            </a:r>
            <a:r>
              <a:rPr sz="3000" spc="26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seamless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user</a:t>
            </a:r>
            <a:r>
              <a:rPr sz="3000" spc="26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experience.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backend,</a:t>
            </a:r>
            <a:r>
              <a:rPr sz="3000" spc="26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powered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by</a:t>
            </a:r>
            <a:r>
              <a:rPr sz="3000" spc="26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Node.js</a:t>
            </a:r>
            <a:r>
              <a:rPr sz="3000" spc="27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125" dirty="0">
                <a:solidFill>
                  <a:srgbClr val="535353"/>
                </a:solidFill>
                <a:latin typeface="Times New Roman"/>
                <a:cs typeface="Times New Roman"/>
              </a:rPr>
              <a:t>and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Express.js,</a:t>
            </a:r>
            <a:r>
              <a:rPr sz="3000" spc="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manages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all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requests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efficiently,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while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535353"/>
                </a:solidFill>
                <a:latin typeface="Times New Roman"/>
                <a:cs typeface="Times New Roman"/>
              </a:rPr>
              <a:t>MongoDB</a:t>
            </a:r>
            <a:r>
              <a:rPr sz="3000" spc="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is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used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to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store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user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535353"/>
                </a:solidFill>
                <a:latin typeface="Times New Roman"/>
                <a:cs typeface="Times New Roman"/>
              </a:rPr>
              <a:t>data</a:t>
            </a:r>
            <a:r>
              <a:rPr sz="3000" spc="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535353"/>
                </a:solidFill>
                <a:latin typeface="Times New Roman"/>
                <a:cs typeface="Times New Roman"/>
              </a:rPr>
              <a:t>BMI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history</a:t>
            </a:r>
            <a:r>
              <a:rPr sz="3000" spc="48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securely.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This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enables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users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to</a:t>
            </a:r>
            <a:r>
              <a:rPr sz="3000" spc="48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track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535353"/>
                </a:solidFill>
                <a:latin typeface="Times New Roman"/>
                <a:cs typeface="Times New Roman"/>
              </a:rPr>
              <a:t>their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BMI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records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over</a:t>
            </a:r>
            <a:r>
              <a:rPr sz="3000" spc="48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time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535353"/>
                </a:solidFill>
                <a:latin typeface="Times New Roman"/>
                <a:cs typeface="Times New Roman"/>
              </a:rPr>
              <a:t>monitor</a:t>
            </a:r>
            <a:r>
              <a:rPr sz="3000" spc="4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their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health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progress.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project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emphasizes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responsive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design,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real-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time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calculations,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data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persistence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for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long-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term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health</a:t>
            </a:r>
            <a:r>
              <a:rPr sz="3000" spc="12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85" dirty="0">
                <a:solidFill>
                  <a:srgbClr val="535353"/>
                </a:solidFill>
                <a:latin typeface="Times New Roman"/>
                <a:cs typeface="Times New Roman"/>
              </a:rPr>
              <a:t>monitoring.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It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535353"/>
                </a:solidFill>
                <a:latin typeface="Times New Roman"/>
                <a:cs typeface="Times New Roman"/>
              </a:rPr>
              <a:t>can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55" dirty="0">
                <a:solidFill>
                  <a:srgbClr val="535353"/>
                </a:solidFill>
                <a:latin typeface="Times New Roman"/>
                <a:cs typeface="Times New Roman"/>
              </a:rPr>
              <a:t>be</a:t>
            </a:r>
            <a:r>
              <a:rPr sz="3000" spc="125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further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enhanced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with</a:t>
            </a:r>
            <a:r>
              <a:rPr sz="3000" spc="120" dirty="0">
                <a:solidFill>
                  <a:srgbClr val="535353"/>
                </a:solidFill>
                <a:latin typeface="Times New Roman"/>
                <a:cs typeface="Times New Roman"/>
              </a:rPr>
              <a:t> 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additional 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features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535353"/>
                </a:solidFill>
                <a:latin typeface="Times New Roman"/>
                <a:cs typeface="Times New Roman"/>
              </a:rPr>
              <a:t>such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as</a:t>
            </a:r>
            <a:r>
              <a:rPr sz="3000" spc="409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535353"/>
                </a:solidFill>
                <a:latin typeface="Times New Roman"/>
                <a:cs typeface="Times New Roman"/>
              </a:rPr>
              <a:t>authentication,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health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recommendations,</a:t>
            </a:r>
            <a:r>
              <a:rPr sz="3000" spc="409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535353"/>
                </a:solidFill>
                <a:latin typeface="Times New Roman"/>
                <a:cs typeface="Times New Roman"/>
              </a:rPr>
              <a:t>data</a:t>
            </a:r>
            <a:r>
              <a:rPr sz="3000" spc="409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visualization.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Overall,</a:t>
            </a:r>
            <a:r>
              <a:rPr sz="3000" spc="4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the </a:t>
            </a:r>
            <a:r>
              <a:rPr sz="3000" spc="140" dirty="0">
                <a:solidFill>
                  <a:srgbClr val="535353"/>
                </a:solidFill>
                <a:latin typeface="Times New Roman"/>
                <a:cs typeface="Times New Roman"/>
              </a:rPr>
              <a:t>BMI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Calculator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using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535353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254" dirty="0">
                <a:solidFill>
                  <a:srgbClr val="535353"/>
                </a:solidFill>
                <a:latin typeface="Times New Roman"/>
                <a:cs typeface="Times New Roman"/>
              </a:rPr>
              <a:t>MERN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stack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serves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535353"/>
                </a:solidFill>
                <a:latin typeface="Times New Roman"/>
                <a:cs typeface="Times New Roman"/>
              </a:rPr>
              <a:t>as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535353"/>
                </a:solidFill>
                <a:latin typeface="Times New Roman"/>
                <a:cs typeface="Times New Roman"/>
              </a:rPr>
              <a:t>a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reliable,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scalable,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modern</a:t>
            </a:r>
            <a:r>
              <a:rPr sz="3000" spc="22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535353"/>
                </a:solidFill>
                <a:latin typeface="Times New Roman"/>
                <a:cs typeface="Times New Roman"/>
              </a:rPr>
              <a:t>solution</a:t>
            </a:r>
            <a:r>
              <a:rPr sz="3000" spc="21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25" dirty="0">
                <a:solidFill>
                  <a:srgbClr val="535353"/>
                </a:solidFill>
                <a:latin typeface="Times New Roman"/>
                <a:cs typeface="Times New Roman"/>
              </a:rPr>
              <a:t>for </a:t>
            </a:r>
            <a:r>
              <a:rPr sz="3000" spc="95" dirty="0">
                <a:solidFill>
                  <a:srgbClr val="535353"/>
                </a:solidFill>
                <a:latin typeface="Times New Roman"/>
                <a:cs typeface="Times New Roman"/>
              </a:rPr>
              <a:t>promoting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personal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535353"/>
                </a:solidFill>
                <a:latin typeface="Times New Roman"/>
                <a:cs typeface="Times New Roman"/>
              </a:rPr>
              <a:t>health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535353"/>
                </a:solidFill>
                <a:latin typeface="Times New Roman"/>
                <a:cs typeface="Times New Roman"/>
              </a:rPr>
              <a:t>awareness</a:t>
            </a:r>
            <a:r>
              <a:rPr sz="3000" spc="4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535353"/>
                </a:solidFill>
                <a:latin typeface="Times New Roman"/>
                <a:cs typeface="Times New Roman"/>
              </a:rPr>
              <a:t>through</a:t>
            </a:r>
            <a:r>
              <a:rPr sz="3000" spc="5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535353"/>
                </a:solidFill>
                <a:latin typeface="Times New Roman"/>
                <a:cs typeface="Times New Roman"/>
              </a:rPr>
              <a:t>technology.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1447" rIns="0" bIns="0" rtlCol="0">
            <a:spAutoFit/>
          </a:bodyPr>
          <a:lstStyle/>
          <a:p>
            <a:pPr marL="4850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9558" y="3075500"/>
            <a:ext cx="15745460" cy="3288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(Body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Mass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Index)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Calculator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simple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web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application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built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using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MERN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61654D"/>
                </a:solidFill>
                <a:latin typeface="Times New Roman"/>
                <a:cs typeface="Times New Roman"/>
              </a:rPr>
              <a:t>stack—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MongoDB,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Express.js,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React.js,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Node.js.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This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application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allows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enter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height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and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weight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instantly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get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value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along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corresponding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category.</a:t>
            </a:r>
            <a:r>
              <a:rPr sz="3100" spc="-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61654D"/>
                </a:solidFill>
                <a:latin typeface="Times New Roman"/>
                <a:cs typeface="Times New Roman"/>
              </a:rPr>
              <a:t>project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shows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how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MERN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stack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be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used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create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basic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61654D"/>
                </a:solidFill>
                <a:latin typeface="Times New Roman"/>
                <a:cs typeface="Times New Roman"/>
              </a:rPr>
              <a:t>full-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stack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application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clean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 user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interface,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functional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backend,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optional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data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storage.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It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helps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100" spc="-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quickly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understand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20" dirty="0">
                <a:solidFill>
                  <a:srgbClr val="61654D"/>
                </a:solidFill>
                <a:latin typeface="Times New Roman"/>
                <a:cs typeface="Times New Roman"/>
              </a:rPr>
              <a:t>their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body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promotes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awareness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through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an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61654D"/>
                </a:solidFill>
                <a:latin typeface="Times New Roman"/>
                <a:cs typeface="Times New Roman"/>
              </a:rPr>
              <a:t>easy-to-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use</a:t>
            </a:r>
            <a:r>
              <a:rPr sz="3100" spc="-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61654D"/>
                </a:solidFill>
                <a:latin typeface="Times New Roman"/>
                <a:cs typeface="Times New Roman"/>
              </a:rPr>
              <a:t>online</a:t>
            </a:r>
            <a:r>
              <a:rPr sz="3100" spc="-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61654D"/>
                </a:solidFill>
                <a:latin typeface="Times New Roman"/>
                <a:cs typeface="Times New Roman"/>
              </a:rPr>
              <a:t>tool.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0961" y="341585"/>
            <a:ext cx="754634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254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1960577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3190" y="1624008"/>
            <a:ext cx="12811760" cy="42164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often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calculated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manually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using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simple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online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tools.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</a:pP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Most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existing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calculators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only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provide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value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without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detailed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insights. </a:t>
            </a:r>
            <a:r>
              <a:rPr sz="3000" spc="220" dirty="0">
                <a:solidFill>
                  <a:srgbClr val="61654D"/>
                </a:solidFill>
                <a:latin typeface="Times New Roman"/>
                <a:cs typeface="Times New Roman"/>
              </a:rPr>
              <a:t>No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login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personalized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experience.</a:t>
            </a:r>
            <a:endParaRPr sz="3000">
              <a:latin typeface="Times New Roman"/>
              <a:cs typeface="Times New Roman"/>
            </a:endParaRPr>
          </a:p>
          <a:p>
            <a:pPr marL="12700" marR="2572385">
              <a:lnSpc>
                <a:spcPct val="114599"/>
              </a:lnSpc>
            </a:pP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data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not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stored—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requires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re-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entering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every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time. </a:t>
            </a:r>
            <a:r>
              <a:rPr sz="3000" spc="220" dirty="0">
                <a:solidFill>
                  <a:srgbClr val="61654D"/>
                </a:solidFill>
                <a:latin typeface="Times New Roman"/>
                <a:cs typeface="Times New Roman"/>
              </a:rPr>
              <a:t>No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history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tracking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trend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analysis.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Interfaces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are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basic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not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very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interactive.</a:t>
            </a:r>
            <a:endParaRPr sz="3000">
              <a:latin typeface="Times New Roman"/>
              <a:cs typeface="Times New Roman"/>
            </a:endParaRPr>
          </a:p>
          <a:p>
            <a:pPr marL="12700" marR="3976370">
              <a:lnSpc>
                <a:spcPct val="114599"/>
              </a:lnSpc>
            </a:pPr>
            <a:r>
              <a:rPr sz="3000" spc="220" dirty="0">
                <a:solidFill>
                  <a:srgbClr val="61654D"/>
                </a:solidFill>
                <a:latin typeface="Times New Roman"/>
                <a:cs typeface="Times New Roman"/>
              </a:rPr>
              <a:t>No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backend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data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management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analytics.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Limited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accessibility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features.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2484452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3008327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3532202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4056077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4579952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5103827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914" y="5627702"/>
            <a:ext cx="85725" cy="857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5903" y="299566"/>
            <a:ext cx="799655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90" dirty="0"/>
              <a:t> </a:t>
            </a:r>
            <a:r>
              <a:rPr spc="-10" dirty="0"/>
              <a:t>SYSTEM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2157751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9564" y="1813771"/>
            <a:ext cx="12435840" cy="545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89330">
              <a:lnSpc>
                <a:spcPct val="116799"/>
              </a:lnSpc>
              <a:spcBef>
                <a:spcPts val="90"/>
              </a:spcBef>
            </a:pPr>
            <a:r>
              <a:rPr sz="3050" spc="175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0" dirty="0">
                <a:solidFill>
                  <a:srgbClr val="61654D"/>
                </a:solidFill>
                <a:latin typeface="Times New Roman"/>
                <a:cs typeface="Times New Roman"/>
              </a:rPr>
              <a:t>complete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61654D"/>
                </a:solidFill>
                <a:latin typeface="Times New Roman"/>
                <a:cs typeface="Times New Roman"/>
              </a:rPr>
              <a:t>web-</a:t>
            </a:r>
            <a:r>
              <a:rPr sz="3050" spc="95" dirty="0">
                <a:solidFill>
                  <a:srgbClr val="61654D"/>
                </a:solidFill>
                <a:latin typeface="Times New Roman"/>
                <a:cs typeface="Times New Roman"/>
              </a:rPr>
              <a:t>based</a:t>
            </a:r>
            <a:r>
              <a:rPr sz="305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10" dirty="0">
                <a:solidFill>
                  <a:srgbClr val="61654D"/>
                </a:solidFill>
                <a:latin typeface="Times New Roman"/>
                <a:cs typeface="Times New Roman"/>
              </a:rPr>
              <a:t>Calculator</a:t>
            </a:r>
            <a:r>
              <a:rPr sz="305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0" dirty="0">
                <a:solidFill>
                  <a:srgbClr val="61654D"/>
                </a:solidFill>
                <a:latin typeface="Times New Roman"/>
                <a:cs typeface="Times New Roman"/>
              </a:rPr>
              <a:t>built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using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0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5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285" dirty="0">
                <a:solidFill>
                  <a:srgbClr val="61654D"/>
                </a:solidFill>
                <a:latin typeface="Times New Roman"/>
                <a:cs typeface="Times New Roman"/>
              </a:rPr>
              <a:t>MERN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0" dirty="0">
                <a:solidFill>
                  <a:srgbClr val="61654D"/>
                </a:solidFill>
                <a:latin typeface="Times New Roman"/>
                <a:cs typeface="Times New Roman"/>
              </a:rPr>
              <a:t>stack. </a:t>
            </a:r>
            <a:r>
              <a:rPr sz="3050" dirty="0">
                <a:solidFill>
                  <a:srgbClr val="61654D"/>
                </a:solidFill>
                <a:latin typeface="Times New Roman"/>
                <a:cs typeface="Times New Roman"/>
              </a:rPr>
              <a:t>Simple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responsive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0" dirty="0">
                <a:solidFill>
                  <a:srgbClr val="61654D"/>
                </a:solidFill>
                <a:latin typeface="Times New Roman"/>
                <a:cs typeface="Times New Roman"/>
              </a:rPr>
              <a:t>interface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5" dirty="0">
                <a:solidFill>
                  <a:srgbClr val="61654D"/>
                </a:solidFill>
                <a:latin typeface="Times New Roman"/>
                <a:cs typeface="Times New Roman"/>
              </a:rPr>
              <a:t>created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0" dirty="0">
                <a:solidFill>
                  <a:srgbClr val="61654D"/>
                </a:solidFill>
                <a:latin typeface="Times New Roman"/>
                <a:cs typeface="Times New Roman"/>
              </a:rPr>
              <a:t>React.js.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16799"/>
              </a:lnSpc>
            </a:pPr>
            <a:r>
              <a:rPr sz="3050" spc="90" dirty="0">
                <a:solidFill>
                  <a:srgbClr val="61654D"/>
                </a:solidFill>
                <a:latin typeface="Times New Roman"/>
                <a:cs typeface="Times New Roman"/>
              </a:rPr>
              <a:t>Backend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14" dirty="0">
                <a:solidFill>
                  <a:srgbClr val="61654D"/>
                </a:solidFill>
                <a:latin typeface="Times New Roman"/>
                <a:cs typeface="Times New Roman"/>
              </a:rPr>
              <a:t>APIs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0" dirty="0">
                <a:solidFill>
                  <a:srgbClr val="61654D"/>
                </a:solidFill>
                <a:latin typeface="Times New Roman"/>
                <a:cs typeface="Times New Roman"/>
              </a:rPr>
              <a:t>built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5" dirty="0">
                <a:solidFill>
                  <a:srgbClr val="61654D"/>
                </a:solidFill>
                <a:latin typeface="Times New Roman"/>
                <a:cs typeface="Times New Roman"/>
              </a:rPr>
              <a:t>Node.js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Express.js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1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25" dirty="0">
                <a:solidFill>
                  <a:srgbClr val="61654D"/>
                </a:solidFill>
                <a:latin typeface="Times New Roman"/>
                <a:cs typeface="Times New Roman"/>
              </a:rPr>
              <a:t>smooth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5" dirty="0">
                <a:solidFill>
                  <a:srgbClr val="61654D"/>
                </a:solidFill>
                <a:latin typeface="Times New Roman"/>
                <a:cs typeface="Times New Roman"/>
              </a:rPr>
              <a:t>data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handling.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MongoDB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25" dirty="0">
                <a:solidFill>
                  <a:srgbClr val="61654D"/>
                </a:solidFill>
                <a:latin typeface="Times New Roman"/>
                <a:cs typeface="Times New Roman"/>
              </a:rPr>
              <a:t>database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5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5" dirty="0">
                <a:solidFill>
                  <a:srgbClr val="61654D"/>
                </a:solidFill>
                <a:latin typeface="Times New Roman"/>
                <a:cs typeface="Times New Roman"/>
              </a:rPr>
              <a:t>store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history.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050" spc="140" dirty="0">
                <a:solidFill>
                  <a:srgbClr val="61654D"/>
                </a:solidFill>
                <a:latin typeface="Times New Roman"/>
                <a:cs typeface="Times New Roman"/>
              </a:rPr>
              <a:t>Instant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calculation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clear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category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results.</a:t>
            </a:r>
            <a:endParaRPr sz="3050">
              <a:latin typeface="Times New Roman"/>
              <a:cs typeface="Times New Roman"/>
            </a:endParaRPr>
          </a:p>
          <a:p>
            <a:pPr marL="12700" marR="986790">
              <a:lnSpc>
                <a:spcPct val="116799"/>
              </a:lnSpc>
            </a:pP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Provides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insights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5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underweight,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20" dirty="0">
                <a:solidFill>
                  <a:srgbClr val="61654D"/>
                </a:solidFill>
                <a:latin typeface="Times New Roman"/>
                <a:cs typeface="Times New Roman"/>
              </a:rPr>
              <a:t>normal,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overweight,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5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obese. </a:t>
            </a:r>
            <a:r>
              <a:rPr sz="3050" dirty="0">
                <a:solidFill>
                  <a:srgbClr val="61654D"/>
                </a:solidFill>
                <a:latin typeface="Times New Roman"/>
                <a:cs typeface="Times New Roman"/>
              </a:rPr>
              <a:t>Allows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5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35" dirty="0">
                <a:solidFill>
                  <a:srgbClr val="61654D"/>
                </a:solidFill>
                <a:latin typeface="Times New Roman"/>
                <a:cs typeface="Times New Roman"/>
              </a:rPr>
              <a:t>track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previous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0" dirty="0">
                <a:solidFill>
                  <a:srgbClr val="61654D"/>
                </a:solidFill>
                <a:latin typeface="Times New Roman"/>
                <a:cs typeface="Times New Roman"/>
              </a:rPr>
              <a:t>records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85" dirty="0">
                <a:solidFill>
                  <a:srgbClr val="61654D"/>
                </a:solidFill>
                <a:latin typeface="Times New Roman"/>
                <a:cs typeface="Times New Roman"/>
              </a:rPr>
              <a:t>over</a:t>
            </a:r>
            <a:r>
              <a:rPr sz="305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time.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Offers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85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personalized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user-</a:t>
            </a: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friendly</a:t>
            </a:r>
            <a:r>
              <a:rPr sz="3050" spc="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35" dirty="0">
                <a:solidFill>
                  <a:srgbClr val="61654D"/>
                </a:solidFill>
                <a:latin typeface="Times New Roman"/>
                <a:cs typeface="Times New Roman"/>
              </a:rPr>
              <a:t>experience.</a:t>
            </a:r>
            <a:endParaRPr sz="3050">
              <a:latin typeface="Times New Roman"/>
              <a:cs typeface="Times New Roman"/>
            </a:endParaRPr>
          </a:p>
          <a:p>
            <a:pPr marL="12700" marR="1258570">
              <a:lnSpc>
                <a:spcPct val="116799"/>
              </a:lnSpc>
            </a:pP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Secure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scalable</a:t>
            </a:r>
            <a:r>
              <a:rPr sz="3050" spc="6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90" dirty="0">
                <a:solidFill>
                  <a:srgbClr val="61654D"/>
                </a:solidFill>
                <a:latin typeface="Times New Roman"/>
                <a:cs typeface="Times New Roman"/>
              </a:rPr>
              <a:t>architecture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 using </a:t>
            </a:r>
            <a:r>
              <a:rPr sz="3050" spc="285" dirty="0">
                <a:solidFill>
                  <a:srgbClr val="61654D"/>
                </a:solidFill>
                <a:latin typeface="Times New Roman"/>
                <a:cs typeface="Times New Roman"/>
              </a:rPr>
              <a:t>MERN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0" dirty="0">
                <a:solidFill>
                  <a:srgbClr val="61654D"/>
                </a:solidFill>
                <a:latin typeface="Times New Roman"/>
                <a:cs typeface="Times New Roman"/>
              </a:rPr>
              <a:t>technologies. </a:t>
            </a:r>
            <a:r>
              <a:rPr sz="3050" spc="16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55" dirty="0">
                <a:solidFill>
                  <a:srgbClr val="61654D"/>
                </a:solidFill>
                <a:latin typeface="Times New Roman"/>
                <a:cs typeface="Times New Roman"/>
              </a:rPr>
              <a:t>reliable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7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30" dirty="0">
                <a:solidFill>
                  <a:srgbClr val="61654D"/>
                </a:solidFill>
                <a:latin typeface="Times New Roman"/>
                <a:cs typeface="Times New Roman"/>
              </a:rPr>
              <a:t>modern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5" dirty="0">
                <a:solidFill>
                  <a:srgbClr val="61654D"/>
                </a:solidFill>
                <a:latin typeface="Times New Roman"/>
                <a:cs typeface="Times New Roman"/>
              </a:rPr>
              <a:t>than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14" dirty="0">
                <a:solidFill>
                  <a:srgbClr val="61654D"/>
                </a:solidFill>
                <a:latin typeface="Times New Roman"/>
                <a:cs typeface="Times New Roman"/>
              </a:rPr>
              <a:t>traditional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35" dirty="0">
                <a:solidFill>
                  <a:srgbClr val="61654D"/>
                </a:solidFill>
                <a:latin typeface="Times New Roman"/>
                <a:cs typeface="Times New Roman"/>
              </a:rPr>
              <a:t>manual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16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60" dirty="0">
                <a:solidFill>
                  <a:srgbClr val="61654D"/>
                </a:solidFill>
                <a:latin typeface="Times New Roman"/>
                <a:cs typeface="Times New Roman"/>
              </a:rPr>
              <a:t>basic</a:t>
            </a:r>
            <a:r>
              <a:rPr sz="3050" spc="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50" spc="75" dirty="0">
                <a:solidFill>
                  <a:srgbClr val="61654D"/>
                </a:solidFill>
                <a:latin typeface="Times New Roman"/>
                <a:cs typeface="Times New Roman"/>
              </a:rPr>
              <a:t>tools.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2700676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3243600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3786525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4329450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4872375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5415300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5958225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6501150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804" y="7044075"/>
            <a:ext cx="95250" cy="952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8392" y="330005"/>
            <a:ext cx="9531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10" dirty="0"/>
              <a:t> </a:t>
            </a:r>
            <a:r>
              <a:rPr spc="-10" dirty="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5736363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6260238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6784113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7307988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7831863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8355738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370" y="8879613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9095" y="1208794"/>
            <a:ext cx="16908780" cy="78835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000" b="1" spc="55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b="1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MODULE: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</a:pP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responsible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managing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all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user-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related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activities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within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Calculator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system.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It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allows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enter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personal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name,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age,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height,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weight,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which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are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essential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generating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accurate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results.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In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advanced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implementations,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this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also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supports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registration,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login,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authentication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ensure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that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only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authorized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access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their </a:t>
            </a:r>
            <a:r>
              <a:rPr sz="3000" spc="130" dirty="0">
                <a:solidFill>
                  <a:srgbClr val="61654D"/>
                </a:solidFill>
                <a:latin typeface="Times New Roman"/>
                <a:cs typeface="Times New Roman"/>
              </a:rPr>
              <a:t>data.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directly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interacts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frontend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interface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built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using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React.js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communicates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backend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server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store,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update,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retrieve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data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from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61654D"/>
                </a:solidFill>
                <a:latin typeface="Times New Roman"/>
                <a:cs typeface="Times New Roman"/>
              </a:rPr>
              <a:t>MongoDB.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Features:</a:t>
            </a:r>
            <a:endParaRPr sz="3000">
              <a:latin typeface="Times New Roman"/>
              <a:cs typeface="Times New Roman"/>
            </a:endParaRPr>
          </a:p>
          <a:p>
            <a:pPr marL="659765" marR="9385300">
              <a:lnSpc>
                <a:spcPct val="114599"/>
              </a:lnSpc>
            </a:pP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registration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email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password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Secure</a:t>
            </a:r>
            <a:r>
              <a:rPr sz="3000" spc="1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login</a:t>
            </a:r>
            <a:r>
              <a:rPr sz="3000" spc="2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functionality</a:t>
            </a:r>
            <a:endParaRPr sz="30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  <a:spcBef>
                <a:spcPts val="520"/>
              </a:spcBef>
            </a:pP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Frontend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form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validation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all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required</a:t>
            </a:r>
            <a:r>
              <a:rPr sz="3000" spc="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fields</a:t>
            </a:r>
            <a:endParaRPr sz="3000">
              <a:latin typeface="Times New Roman"/>
              <a:cs typeface="Times New Roman"/>
            </a:endParaRPr>
          </a:p>
          <a:p>
            <a:pPr marL="659765" marR="4027804">
              <a:lnSpc>
                <a:spcPct val="114599"/>
              </a:lnSpc>
            </a:pP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Authentication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handled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using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backend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APIs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30" dirty="0">
                <a:solidFill>
                  <a:srgbClr val="61654D"/>
                </a:solidFill>
                <a:latin typeface="Times New Roman"/>
                <a:cs typeface="Times New Roman"/>
              </a:rPr>
              <a:t>JWT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(JSON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Web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Token)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Error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handling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invalid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incorrect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credentials</a:t>
            </a:r>
            <a:endParaRPr sz="30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  <a:spcBef>
                <a:spcPts val="525"/>
              </a:spcBef>
            </a:pP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Ability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61654D"/>
                </a:solidFill>
                <a:latin typeface="Times New Roman"/>
                <a:cs typeface="Times New Roman"/>
              </a:rPr>
              <a:t>update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profile</a:t>
            </a:r>
            <a:r>
              <a:rPr sz="3000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endParaRPr sz="30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  <a:spcBef>
                <a:spcPts val="525"/>
              </a:spcBef>
            </a:pP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Fetching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saving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personal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information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(height,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weight,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1654D"/>
                </a:solidFill>
                <a:latin typeface="Times New Roman"/>
                <a:cs typeface="Times New Roman"/>
              </a:rPr>
              <a:t>age)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8392" y="330005"/>
            <a:ext cx="9531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10" dirty="0"/>
              <a:t> </a:t>
            </a:r>
            <a:r>
              <a:rPr spc="-10" dirty="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6746913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7270788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7794663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8318538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8842413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9366288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0875" y="1695469"/>
            <a:ext cx="16526510" cy="78835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3000" b="1" dirty="0">
                <a:solidFill>
                  <a:srgbClr val="61654D"/>
                </a:solidFill>
                <a:latin typeface="Times New Roman"/>
                <a:cs typeface="Times New Roman"/>
              </a:rPr>
              <a:t>HISTORY</a:t>
            </a:r>
            <a:r>
              <a:rPr sz="3000" b="1" spc="2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MODULE: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4599"/>
              </a:lnSpc>
            </a:pP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History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responsible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storing,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managing,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displaying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past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records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of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each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user.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Every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time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calculates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61654D"/>
                </a:solidFill>
                <a:latin typeface="Times New Roman"/>
                <a:cs typeface="Times New Roman"/>
              </a:rPr>
              <a:t>BMI,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saves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result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along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2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r>
              <a:rPr sz="3000" spc="22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such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height,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weight,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date,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category.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This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allows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track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progress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over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time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by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viewing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previous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entries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in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organized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format.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It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directly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interacts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backend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5" dirty="0">
                <a:solidFill>
                  <a:srgbClr val="61654D"/>
                </a:solidFill>
                <a:latin typeface="Times New Roman"/>
                <a:cs typeface="Times New Roman"/>
              </a:rPr>
              <a:t>to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fetch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display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stored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records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MongoDB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maintain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complete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history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each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authenticated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user.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enhances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experience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by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offering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clear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insights</a:t>
            </a:r>
            <a:r>
              <a:rPr sz="3000" spc="6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into</a:t>
            </a:r>
            <a:r>
              <a:rPr sz="3000" spc="6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long-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term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trends.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Features:</a:t>
            </a:r>
            <a:endParaRPr sz="30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  <a:spcBef>
                <a:spcPts val="525"/>
              </a:spcBef>
            </a:pP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Automatic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saving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of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results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after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each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calculation</a:t>
            </a:r>
            <a:endParaRPr sz="3000">
              <a:latin typeface="Times New Roman"/>
              <a:cs typeface="Times New Roman"/>
            </a:endParaRPr>
          </a:p>
          <a:p>
            <a:pPr marL="659765" marR="3952240">
              <a:lnSpc>
                <a:spcPct val="114599"/>
              </a:lnSpc>
            </a:pP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Stores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details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height,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weight,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value,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category,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timestamp Fetches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past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records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from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MongoDB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logged-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in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endParaRPr sz="3000">
              <a:latin typeface="Times New Roman"/>
              <a:cs typeface="Times New Roman"/>
            </a:endParaRPr>
          </a:p>
          <a:p>
            <a:pPr marL="659765" marR="7162165">
              <a:lnSpc>
                <a:spcPct val="114599"/>
              </a:lnSpc>
            </a:pP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Displays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history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in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clean,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user-friendly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table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1654D"/>
                </a:solidFill>
                <a:latin typeface="Times New Roman"/>
                <a:cs typeface="Times New Roman"/>
              </a:rPr>
              <a:t>list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Allows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compare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current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past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values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Provides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visual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insights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(optional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charts/graphs)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8392" y="469931"/>
            <a:ext cx="9531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10" dirty="0"/>
              <a:t> </a:t>
            </a:r>
            <a:r>
              <a:rPr spc="-10" dirty="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50" y="6461339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0875" y="1933771"/>
            <a:ext cx="16526510" cy="68357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07314" algn="just">
              <a:lnSpc>
                <a:spcPct val="100000"/>
              </a:lnSpc>
              <a:spcBef>
                <a:spcPts val="625"/>
              </a:spcBef>
            </a:pPr>
            <a:r>
              <a:rPr sz="3000" b="1" spc="55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000" b="1" spc="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MODULE: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4599"/>
              </a:lnSpc>
            </a:pP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responsible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determining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displaying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category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based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on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61654D"/>
                </a:solidFill>
                <a:latin typeface="Times New Roman"/>
                <a:cs typeface="Times New Roman"/>
              </a:rPr>
              <a:t>BMI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value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calculated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by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system.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Once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user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enters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height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weight,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computed,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this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254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classifies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result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into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predefined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categories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Underweight,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14" dirty="0">
                <a:solidFill>
                  <a:srgbClr val="61654D"/>
                </a:solidFill>
                <a:latin typeface="Times New Roman"/>
                <a:cs typeface="Times New Roman"/>
              </a:rPr>
              <a:t>Normal,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Overweight,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Obese.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module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helps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users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quickly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understand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their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000" spc="434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provides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meaningful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insights.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It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interacts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both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calculation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logic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frontend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interface</a:t>
            </a:r>
            <a:r>
              <a:rPr sz="3000" spc="409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show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clear,</a:t>
            </a:r>
            <a:r>
              <a:rPr sz="3000" spc="1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easy-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to-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read</a:t>
            </a:r>
            <a:r>
              <a:rPr sz="3000" spc="12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000" spc="13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messages.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000" b="1" spc="-10" dirty="0">
                <a:solidFill>
                  <a:srgbClr val="61654D"/>
                </a:solidFill>
                <a:latin typeface="Times New Roman"/>
                <a:cs typeface="Times New Roman"/>
              </a:rPr>
              <a:t>Features:</a:t>
            </a:r>
            <a:endParaRPr sz="3000">
              <a:latin typeface="Times New Roman"/>
              <a:cs typeface="Times New Roman"/>
            </a:endParaRPr>
          </a:p>
          <a:p>
            <a:pPr marL="1250315" marR="9613900" indent="-590550">
              <a:lnSpc>
                <a:spcPct val="114599"/>
              </a:lnSpc>
            </a:pP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Displays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clear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status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messages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61654D"/>
                </a:solidFill>
                <a:latin typeface="Times New Roman"/>
                <a:cs typeface="Times New Roman"/>
              </a:rPr>
              <a:t>as: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Underweight</a:t>
            </a:r>
            <a:endParaRPr sz="3000">
              <a:latin typeface="Times New Roman"/>
              <a:cs typeface="Times New Roman"/>
            </a:endParaRPr>
          </a:p>
          <a:p>
            <a:pPr marL="1250315" marR="12720320">
              <a:lnSpc>
                <a:spcPct val="114599"/>
              </a:lnSpc>
            </a:pPr>
            <a:r>
              <a:rPr sz="3000" spc="135" dirty="0">
                <a:solidFill>
                  <a:srgbClr val="61654D"/>
                </a:solidFill>
                <a:latin typeface="Times New Roman"/>
                <a:cs typeface="Times New Roman"/>
              </a:rPr>
              <a:t>Normal</a:t>
            </a:r>
            <a:r>
              <a:rPr sz="3000" spc="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Weight </a:t>
            </a:r>
            <a:r>
              <a:rPr sz="3000" spc="-10" dirty="0">
                <a:solidFill>
                  <a:srgbClr val="61654D"/>
                </a:solidFill>
                <a:latin typeface="Times New Roman"/>
                <a:cs typeface="Times New Roman"/>
              </a:rPr>
              <a:t>Overweight Obese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2465" y="2029419"/>
            <a:ext cx="8963024" cy="74771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244" rIns="0" bIns="0" rtlCol="0">
            <a:spAutoFit/>
          </a:bodyPr>
          <a:lstStyle/>
          <a:p>
            <a:pPr marL="26498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  <a:r>
              <a:rPr spc="-390" dirty="0"/>
              <a:t> </a:t>
            </a:r>
            <a:r>
              <a:rPr spc="-10" dirty="0"/>
              <a:t>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268" y="1904213"/>
            <a:ext cx="9286874" cy="7353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244" rIns="0" bIns="0" rtlCol="0">
            <a:spAutoFit/>
          </a:bodyPr>
          <a:lstStyle/>
          <a:p>
            <a:pPr marL="5404485">
              <a:lnSpc>
                <a:spcPct val="100000"/>
              </a:lnSpc>
              <a:spcBef>
                <a:spcPts val="100"/>
              </a:spcBef>
            </a:pPr>
            <a:r>
              <a:rPr dirty="0"/>
              <a:t>ER</a:t>
            </a:r>
            <a:r>
              <a:rPr spc="-100" dirty="0"/>
              <a:t> </a:t>
            </a:r>
            <a:r>
              <a:rPr spc="-10" dirty="0"/>
              <a:t>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1350" y="2049711"/>
            <a:ext cx="8143873" cy="72104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244" rIns="0" bIns="0" rtlCol="0">
            <a:spAutoFit/>
          </a:bodyPr>
          <a:lstStyle/>
          <a:p>
            <a:pPr marL="4094479">
              <a:lnSpc>
                <a:spcPct val="100000"/>
              </a:lnSpc>
              <a:spcBef>
                <a:spcPts val="100"/>
              </a:spcBef>
            </a:pPr>
            <a:r>
              <a:rPr dirty="0"/>
              <a:t>USECASE</a:t>
            </a:r>
            <a:r>
              <a:rPr spc="-335" dirty="0"/>
              <a:t> </a:t>
            </a:r>
            <a:r>
              <a:rPr spc="-10" dirty="0"/>
              <a:t>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6332" y="3673598"/>
            <a:ext cx="12477749" cy="3267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dirty="0"/>
              <a:t>FLOW</a:t>
            </a:r>
            <a:r>
              <a:rPr spc="-15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70981" y="2165822"/>
            <a:ext cx="321056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b="1" dirty="0">
                <a:solidFill>
                  <a:srgbClr val="535353"/>
                </a:solidFill>
                <a:latin typeface="Times New Roman"/>
                <a:cs typeface="Times New Roman"/>
              </a:rPr>
              <a:t>DFD</a:t>
            </a:r>
            <a:r>
              <a:rPr sz="3700" b="1" spc="-8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700" b="1" dirty="0">
                <a:solidFill>
                  <a:srgbClr val="535353"/>
                </a:solidFill>
                <a:latin typeface="Times New Roman"/>
                <a:cs typeface="Times New Roman"/>
              </a:rPr>
              <a:t>LEVEL:</a:t>
            </a:r>
            <a:r>
              <a:rPr sz="3700" b="1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700" b="1" spc="-60" dirty="0">
                <a:solidFill>
                  <a:srgbClr val="535353"/>
                </a:solidFill>
                <a:latin typeface="Times New Roman"/>
                <a:cs typeface="Times New Roman"/>
              </a:rPr>
              <a:t>0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5008" y="2761254"/>
            <a:ext cx="10753724" cy="4762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3474085">
              <a:lnSpc>
                <a:spcPct val="100000"/>
              </a:lnSpc>
              <a:spcBef>
                <a:spcPts val="1755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dirty="0"/>
              <a:t>FLOW</a:t>
            </a:r>
            <a:r>
              <a:rPr spc="-150" dirty="0"/>
              <a:t> </a:t>
            </a:r>
            <a:r>
              <a:rPr spc="-10" dirty="0"/>
              <a:t>DIAGRAM</a:t>
            </a:r>
          </a:p>
          <a:p>
            <a:pPr marL="1535430">
              <a:lnSpc>
                <a:spcPct val="100000"/>
              </a:lnSpc>
              <a:spcBef>
                <a:spcPts val="960"/>
              </a:spcBef>
            </a:pPr>
            <a:r>
              <a:rPr sz="3700" dirty="0"/>
              <a:t>DFD</a:t>
            </a:r>
            <a:r>
              <a:rPr sz="3700" spc="-85" dirty="0"/>
              <a:t> </a:t>
            </a:r>
            <a:r>
              <a:rPr sz="3700" dirty="0"/>
              <a:t>LEVEL:</a:t>
            </a:r>
            <a:r>
              <a:rPr sz="3700" spc="-80" dirty="0"/>
              <a:t> </a:t>
            </a:r>
            <a:r>
              <a:rPr sz="3700" spc="-60" dirty="0"/>
              <a:t>1</a:t>
            </a:r>
            <a:endParaRPr sz="3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8535" y="2286731"/>
            <a:ext cx="10372724" cy="6972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3474085">
              <a:lnSpc>
                <a:spcPct val="100000"/>
              </a:lnSpc>
              <a:spcBef>
                <a:spcPts val="1755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dirty="0"/>
              <a:t>FLOW</a:t>
            </a:r>
            <a:r>
              <a:rPr spc="-150" dirty="0"/>
              <a:t> </a:t>
            </a:r>
            <a:r>
              <a:rPr spc="-10" dirty="0"/>
              <a:t>DIAGRAM</a:t>
            </a:r>
          </a:p>
          <a:p>
            <a:pPr marL="931544">
              <a:lnSpc>
                <a:spcPct val="100000"/>
              </a:lnSpc>
              <a:spcBef>
                <a:spcPts val="960"/>
              </a:spcBef>
            </a:pPr>
            <a:r>
              <a:rPr sz="3700" dirty="0"/>
              <a:t>DFD</a:t>
            </a:r>
            <a:r>
              <a:rPr sz="3700" spc="-85" dirty="0"/>
              <a:t> </a:t>
            </a:r>
            <a:r>
              <a:rPr sz="3700" dirty="0"/>
              <a:t>LEVEL:</a:t>
            </a:r>
            <a:r>
              <a:rPr sz="3700" spc="-80" dirty="0"/>
              <a:t> </a:t>
            </a:r>
            <a:r>
              <a:rPr sz="3700" spc="-60" dirty="0"/>
              <a:t>2</a:t>
            </a:r>
            <a:endParaRPr sz="3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1388" y="1755143"/>
            <a:ext cx="4110851" cy="78469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244" rIns="0" bIns="0" rtlCol="0">
            <a:spAutoFit/>
          </a:bodyPr>
          <a:lstStyle/>
          <a:p>
            <a:pPr marL="4658995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235" dirty="0"/>
              <a:t> </a:t>
            </a:r>
            <a:r>
              <a:rPr spc="-10" dirty="0"/>
              <a:t>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072" y="646502"/>
            <a:ext cx="7890509" cy="675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250" dirty="0">
                <a:solidFill>
                  <a:srgbClr val="3F3C3D"/>
                </a:solidFill>
              </a:rPr>
              <a:t>HARDWARE</a:t>
            </a:r>
            <a:r>
              <a:rPr sz="4250" spc="-45" dirty="0">
                <a:solidFill>
                  <a:srgbClr val="3F3C3D"/>
                </a:solidFill>
              </a:rPr>
              <a:t> </a:t>
            </a:r>
            <a:r>
              <a:rPr sz="4250" spc="-10" dirty="0">
                <a:solidFill>
                  <a:srgbClr val="3F3C3D"/>
                </a:solidFill>
              </a:rPr>
              <a:t>REQUIREMENTS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1016000" y="1375340"/>
            <a:ext cx="9118600" cy="754253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Processor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:</a:t>
            </a:r>
            <a:r>
              <a:rPr sz="3650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5" dirty="0">
                <a:solidFill>
                  <a:srgbClr val="535353"/>
                </a:solidFill>
                <a:latin typeface="Times New Roman"/>
                <a:cs typeface="Times New Roman"/>
              </a:rPr>
              <a:t>Dual-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Core</a:t>
            </a:r>
            <a:r>
              <a:rPr sz="3650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2.0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GHz</a:t>
            </a:r>
            <a:r>
              <a:rPr sz="3650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or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higher</a:t>
            </a: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RAM:</a:t>
            </a:r>
            <a:r>
              <a:rPr sz="3650" b="1" spc="-5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8</a:t>
            </a:r>
            <a:r>
              <a:rPr sz="3650" spc="-5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GB</a:t>
            </a:r>
            <a:r>
              <a:rPr sz="3650" spc="-5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or</a:t>
            </a:r>
            <a:r>
              <a:rPr sz="3650" spc="-5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0" dirty="0">
                <a:solidFill>
                  <a:srgbClr val="535353"/>
                </a:solidFill>
                <a:latin typeface="Times New Roman"/>
                <a:cs typeface="Times New Roman"/>
              </a:rPr>
              <a:t>more</a:t>
            </a: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Storage:</a:t>
            </a:r>
            <a:r>
              <a:rPr sz="3650" b="1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Minimum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100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GB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of</a:t>
            </a:r>
            <a:r>
              <a:rPr sz="3650" spc="-9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available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space</a:t>
            </a: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Network:</a:t>
            </a:r>
            <a:r>
              <a:rPr sz="3650" b="1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Stable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5" dirty="0">
                <a:solidFill>
                  <a:srgbClr val="535353"/>
                </a:solidFill>
                <a:latin typeface="Times New Roman"/>
                <a:cs typeface="Times New Roman"/>
              </a:rPr>
              <a:t>high-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speed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internet</a:t>
            </a:r>
            <a:r>
              <a:rPr sz="3650" spc="-10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connection.</a:t>
            </a:r>
            <a:endParaRPr sz="365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  <a:spcBef>
                <a:spcPts val="2490"/>
              </a:spcBef>
            </a:pPr>
            <a:r>
              <a:rPr sz="4250" b="1" dirty="0">
                <a:solidFill>
                  <a:srgbClr val="3F3C3D"/>
                </a:solidFill>
                <a:latin typeface="Times New Roman"/>
                <a:cs typeface="Times New Roman"/>
              </a:rPr>
              <a:t>SOFTWARE</a:t>
            </a:r>
            <a:r>
              <a:rPr sz="4250" b="1" spc="-45" dirty="0">
                <a:solidFill>
                  <a:srgbClr val="3F3C3D"/>
                </a:solidFill>
                <a:latin typeface="Times New Roman"/>
                <a:cs typeface="Times New Roman"/>
              </a:rPr>
              <a:t> </a:t>
            </a:r>
            <a:r>
              <a:rPr sz="4250" b="1" spc="-10" dirty="0">
                <a:solidFill>
                  <a:srgbClr val="3F3C3D"/>
                </a:solidFill>
                <a:latin typeface="Times New Roman"/>
                <a:cs typeface="Times New Roman"/>
              </a:rPr>
              <a:t>REQUIREMENTS</a:t>
            </a: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Operating</a:t>
            </a:r>
            <a:r>
              <a:rPr sz="3650" b="1" spc="-13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System:</a:t>
            </a:r>
            <a:r>
              <a:rPr sz="3650" b="1" spc="-1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Windows</a:t>
            </a:r>
            <a:r>
              <a:rPr sz="3650" spc="-13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5" dirty="0">
                <a:solidFill>
                  <a:srgbClr val="535353"/>
                </a:solidFill>
                <a:latin typeface="Times New Roman"/>
                <a:cs typeface="Times New Roman"/>
              </a:rPr>
              <a:t>11</a:t>
            </a:r>
            <a:endParaRPr sz="3650">
              <a:latin typeface="Times New Roman"/>
              <a:cs typeface="Times New Roman"/>
            </a:endParaRPr>
          </a:p>
          <a:p>
            <a:pPr marL="12700" marR="736600">
              <a:lnSpc>
                <a:spcPct val="116399"/>
              </a:lnSpc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Frontend:</a:t>
            </a:r>
            <a:r>
              <a:rPr sz="3650" b="1" spc="-9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React.js</a:t>
            </a:r>
            <a:r>
              <a:rPr sz="3650" spc="-8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(using</a:t>
            </a:r>
            <a:r>
              <a:rPr sz="3650" spc="-8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Vite</a:t>
            </a:r>
            <a:r>
              <a:rPr sz="3650" spc="-8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for</a:t>
            </a:r>
            <a:r>
              <a:rPr sz="3650" spc="-8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bundling) </a:t>
            </a: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Backend:</a:t>
            </a:r>
            <a:r>
              <a:rPr sz="3650" b="1" spc="-11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Node.js</a:t>
            </a:r>
            <a:r>
              <a:rPr sz="3650" spc="-1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with</a:t>
            </a:r>
            <a:r>
              <a:rPr sz="3650" spc="-10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Express.js </a:t>
            </a: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Database:</a:t>
            </a:r>
            <a:r>
              <a:rPr sz="3650" b="1" spc="-15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10" dirty="0">
                <a:solidFill>
                  <a:srgbClr val="535353"/>
                </a:solidFill>
                <a:latin typeface="Times New Roman"/>
                <a:cs typeface="Times New Roman"/>
              </a:rPr>
              <a:t>MongoDB</a:t>
            </a: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Browser:</a:t>
            </a:r>
            <a:r>
              <a:rPr sz="3650" b="1" spc="-11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Chrome,</a:t>
            </a:r>
            <a:r>
              <a:rPr sz="3650" spc="-11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Firefox,</a:t>
            </a:r>
            <a:r>
              <a:rPr sz="3650" spc="-11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or</a:t>
            </a:r>
            <a:r>
              <a:rPr sz="3650" spc="-114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0" dirty="0">
                <a:solidFill>
                  <a:srgbClr val="535353"/>
                </a:solidFill>
                <a:latin typeface="Times New Roman"/>
                <a:cs typeface="Times New Roman"/>
              </a:rPr>
              <a:t>Edge</a:t>
            </a: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Code</a:t>
            </a:r>
            <a:r>
              <a:rPr sz="3650" b="1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b="1" dirty="0">
                <a:solidFill>
                  <a:srgbClr val="535353"/>
                </a:solidFill>
                <a:latin typeface="Times New Roman"/>
                <a:cs typeface="Times New Roman"/>
              </a:rPr>
              <a:t>Editor:</a:t>
            </a:r>
            <a:r>
              <a:rPr sz="3650" b="1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VS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Code</a:t>
            </a:r>
            <a:r>
              <a:rPr sz="3650" spc="-80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or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any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535353"/>
                </a:solidFill>
                <a:latin typeface="Times New Roman"/>
                <a:cs typeface="Times New Roman"/>
              </a:rPr>
              <a:t>preferred</a:t>
            </a:r>
            <a:r>
              <a:rPr sz="3650" spc="-75" dirty="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sz="3650" spc="-25" dirty="0">
                <a:solidFill>
                  <a:srgbClr val="535353"/>
                </a:solidFill>
                <a:latin typeface="Times New Roman"/>
                <a:cs typeface="Times New Roman"/>
              </a:rPr>
              <a:t>IDE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6050" y="243016"/>
            <a:ext cx="1007300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295" dirty="0"/>
              <a:t> </a:t>
            </a:r>
            <a:r>
              <a:rPr spc="-10" dirty="0"/>
              <a:t>ENHANCEMENT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951" y="1769066"/>
            <a:ext cx="14934565" cy="683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599"/>
              </a:lnSpc>
              <a:spcBef>
                <a:spcPts val="100"/>
              </a:spcBef>
            </a:pP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Calculator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can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be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improved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expanded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in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several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ways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provide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1654D"/>
                </a:solidFill>
                <a:latin typeface="Times New Roman"/>
                <a:cs typeface="Times New Roman"/>
              </a:rPr>
              <a:t>users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3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00" spc="3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3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comprehensive</a:t>
            </a:r>
            <a:r>
              <a:rPr sz="3000" spc="3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health-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tracking</a:t>
            </a:r>
            <a:r>
              <a:rPr sz="3000" spc="3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experience.</a:t>
            </a:r>
            <a:r>
              <a:rPr sz="3000" spc="3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Future</a:t>
            </a:r>
            <a:r>
              <a:rPr sz="3000" spc="3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enhancements</a:t>
            </a:r>
            <a:r>
              <a:rPr sz="3000" spc="3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may</a:t>
            </a:r>
            <a:r>
              <a:rPr sz="3000" spc="3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35" dirty="0">
                <a:solidFill>
                  <a:srgbClr val="61654D"/>
                </a:solidFill>
                <a:latin typeface="Times New Roman"/>
                <a:cs typeface="Times New Roman"/>
              </a:rPr>
              <a:t>include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integrating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additional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metrics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body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fat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percentage,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muscle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mass,</a:t>
            </a:r>
            <a:r>
              <a:rPr sz="3000" spc="4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61654D"/>
                </a:solidFill>
                <a:latin typeface="Times New Roman"/>
                <a:cs typeface="Times New Roman"/>
              </a:rPr>
              <a:t>daily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calorie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requirements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a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accurate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assessment</a:t>
            </a:r>
            <a:r>
              <a:rPr sz="3000" spc="26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of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overall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fitness.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00" spc="26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000" spc="26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40" dirty="0">
                <a:solidFill>
                  <a:srgbClr val="61654D"/>
                </a:solidFill>
                <a:latin typeface="Times New Roman"/>
                <a:cs typeface="Times New Roman"/>
              </a:rPr>
              <a:t>also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introduce</a:t>
            </a:r>
            <a:r>
              <a:rPr sz="3000" spc="15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personalized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diet</a:t>
            </a:r>
            <a:r>
              <a:rPr sz="3000" spc="15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20" dirty="0">
                <a:solidFill>
                  <a:srgbClr val="61654D"/>
                </a:solidFill>
                <a:latin typeface="Times New Roman"/>
                <a:cs typeface="Times New Roman"/>
              </a:rPr>
              <a:t>workout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recommendations</a:t>
            </a:r>
            <a:r>
              <a:rPr sz="3000" spc="15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based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on</a:t>
            </a:r>
            <a:r>
              <a:rPr sz="3000" spc="15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user’s</a:t>
            </a:r>
            <a:r>
              <a:rPr sz="3000" spc="16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14" dirty="0">
                <a:solidFill>
                  <a:srgbClr val="61654D"/>
                </a:solidFill>
                <a:latin typeface="Times New Roman"/>
                <a:cs typeface="Times New Roman"/>
              </a:rPr>
              <a:t>BMI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category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age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group.Advanced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features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as  graphical 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trend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45" dirty="0">
                <a:solidFill>
                  <a:srgbClr val="61654D"/>
                </a:solidFill>
                <a:latin typeface="Times New Roman"/>
                <a:cs typeface="Times New Roman"/>
              </a:rPr>
              <a:t>analysis,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AI-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based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suggestions,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integration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with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wearable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devices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like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smartwatches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or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fitness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bands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make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application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intelligent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user-friendly.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addition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of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real-</a:t>
            </a:r>
            <a:r>
              <a:rPr sz="3000" spc="30" dirty="0">
                <a:solidFill>
                  <a:srgbClr val="61654D"/>
                </a:solidFill>
                <a:latin typeface="Times New Roman"/>
                <a:cs typeface="Times New Roman"/>
              </a:rPr>
              <a:t>time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notifications,</a:t>
            </a:r>
            <a:r>
              <a:rPr sz="3000" spc="4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reminders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for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periodic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4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checkups,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multi-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platform</a:t>
            </a:r>
            <a:r>
              <a:rPr sz="3000" spc="49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61654D"/>
                </a:solidFill>
                <a:latin typeface="Times New Roman"/>
                <a:cs typeface="Times New Roman"/>
              </a:rPr>
              <a:t>support</a:t>
            </a:r>
            <a:r>
              <a:rPr sz="3000" spc="49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4" dirty="0">
                <a:solidFill>
                  <a:srgbClr val="61654D"/>
                </a:solidFill>
                <a:latin typeface="Times New Roman"/>
                <a:cs typeface="Times New Roman"/>
              </a:rPr>
              <a:t>through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mobile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apps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further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enhance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61654D"/>
                </a:solidFill>
                <a:latin typeface="Times New Roman"/>
                <a:cs typeface="Times New Roman"/>
              </a:rPr>
              <a:t>usability.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5" dirty="0">
                <a:solidFill>
                  <a:srgbClr val="61654D"/>
                </a:solidFill>
                <a:latin typeface="Times New Roman"/>
                <a:cs typeface="Times New Roman"/>
              </a:rPr>
              <a:t>Implementing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5" dirty="0">
                <a:solidFill>
                  <a:srgbClr val="61654D"/>
                </a:solidFill>
                <a:latin typeface="Times New Roman"/>
                <a:cs typeface="Times New Roman"/>
              </a:rPr>
              <a:t>advanced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authentication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61654D"/>
                </a:solidFill>
                <a:latin typeface="Times New Roman"/>
                <a:cs typeface="Times New Roman"/>
              </a:rPr>
              <a:t>methods,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such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as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60" dirty="0">
                <a:solidFill>
                  <a:srgbClr val="61654D"/>
                </a:solidFill>
                <a:latin typeface="Times New Roman"/>
                <a:cs typeface="Times New Roman"/>
              </a:rPr>
              <a:t>biometric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login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or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OAuth-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based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social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logins,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can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5" dirty="0">
                <a:solidFill>
                  <a:srgbClr val="61654D"/>
                </a:solidFill>
                <a:latin typeface="Times New Roman"/>
                <a:cs typeface="Times New Roman"/>
              </a:rPr>
              <a:t>make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system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secure</a:t>
            </a:r>
            <a:r>
              <a:rPr sz="3000" spc="14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5" dirty="0">
                <a:solidFill>
                  <a:srgbClr val="61654D"/>
                </a:solidFill>
                <a:latin typeface="Times New Roman"/>
                <a:cs typeface="Times New Roman"/>
              </a:rPr>
              <a:t>and </a:t>
            </a:r>
            <a:r>
              <a:rPr sz="3000" spc="55" dirty="0">
                <a:solidFill>
                  <a:srgbClr val="61654D"/>
                </a:solidFill>
                <a:latin typeface="Times New Roman"/>
                <a:cs typeface="Times New Roman"/>
              </a:rPr>
              <a:t>convenient.Overall,</a:t>
            </a:r>
            <a:r>
              <a:rPr sz="3000" spc="3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these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enhancements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80" dirty="0">
                <a:solidFill>
                  <a:srgbClr val="61654D"/>
                </a:solidFill>
                <a:latin typeface="Times New Roman"/>
                <a:cs typeface="Times New Roman"/>
              </a:rPr>
              <a:t>aim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to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5" dirty="0">
                <a:solidFill>
                  <a:srgbClr val="61654D"/>
                </a:solidFill>
                <a:latin typeface="Times New Roman"/>
                <a:cs typeface="Times New Roman"/>
              </a:rPr>
              <a:t>transform</a:t>
            </a:r>
            <a:r>
              <a:rPr sz="3000" spc="3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the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basic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40" dirty="0">
                <a:solidFill>
                  <a:srgbClr val="61654D"/>
                </a:solidFill>
                <a:latin typeface="Times New Roman"/>
                <a:cs typeface="Times New Roman"/>
              </a:rPr>
              <a:t>BMI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Calculator</a:t>
            </a:r>
            <a:r>
              <a:rPr sz="3000" spc="32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00" dirty="0">
                <a:solidFill>
                  <a:srgbClr val="61654D"/>
                </a:solidFill>
                <a:latin typeface="Times New Roman"/>
                <a:cs typeface="Times New Roman"/>
              </a:rPr>
              <a:t>into</a:t>
            </a:r>
            <a:r>
              <a:rPr sz="3000" spc="31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10" dirty="0">
                <a:solidFill>
                  <a:srgbClr val="61654D"/>
                </a:solidFill>
                <a:latin typeface="Times New Roman"/>
                <a:cs typeface="Times New Roman"/>
              </a:rPr>
              <a:t>a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more</a:t>
            </a:r>
            <a:r>
              <a:rPr sz="3000" spc="-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20" dirty="0">
                <a:solidFill>
                  <a:srgbClr val="61654D"/>
                </a:solidFill>
                <a:latin typeface="Times New Roman"/>
                <a:cs typeface="Times New Roman"/>
              </a:rPr>
              <a:t>robust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health</a:t>
            </a:r>
            <a:r>
              <a:rPr sz="3000" spc="-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61654D"/>
                </a:solidFill>
                <a:latin typeface="Times New Roman"/>
                <a:cs typeface="Times New Roman"/>
              </a:rPr>
              <a:t>monitoring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150" dirty="0">
                <a:solidFill>
                  <a:srgbClr val="61654D"/>
                </a:solidFill>
                <a:latin typeface="Times New Roman"/>
                <a:cs typeface="Times New Roman"/>
              </a:rPr>
              <a:t>and</a:t>
            </a:r>
            <a:r>
              <a:rPr sz="3000" dirty="0">
                <a:solidFill>
                  <a:srgbClr val="61654D"/>
                </a:solidFill>
                <a:latin typeface="Times New Roman"/>
                <a:cs typeface="Times New Roman"/>
              </a:rPr>
              <a:t> wellness</a:t>
            </a:r>
            <a:r>
              <a:rPr sz="3000" spc="-5" dirty="0">
                <a:solidFill>
                  <a:srgbClr val="61654D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61654D"/>
                </a:solidFill>
                <a:latin typeface="Times New Roman"/>
                <a:cs typeface="Times New Roman"/>
              </a:rPr>
              <a:t>application.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072" y="29861"/>
            <a:ext cx="13568568" cy="1897380"/>
          </a:xfrm>
          <a:prstGeom prst="rect">
            <a:avLst/>
          </a:prstGeom>
        </p:spPr>
        <p:txBody>
          <a:bodyPr vert="horz" wrap="square" lIns="0" tIns="425061" rIns="0" bIns="0" rtlCol="0">
            <a:spAutoFit/>
          </a:bodyPr>
          <a:lstStyle/>
          <a:p>
            <a:pPr marL="5347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59558" y="2535612"/>
            <a:ext cx="15502255" cy="26680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lang="en-US" spc="70" dirty="0"/>
              <a:t>The BMI Calculator project aims to provide users with a </a:t>
            </a:r>
            <a:r>
              <a:rPr lang="en-US" spc="70" dirty="0" err="1"/>
              <a:t>simple,efficient</a:t>
            </a:r>
            <a:r>
              <a:rPr lang="en-US" spc="70" dirty="0"/>
              <a:t>, and responsive tool to monitor their health </a:t>
            </a:r>
            <a:r>
              <a:rPr lang="en-US" spc="70" dirty="0" err="1"/>
              <a:t>throughthe</a:t>
            </a:r>
            <a:r>
              <a:rPr lang="en-US" spc="70" dirty="0"/>
              <a:t> calculation of their Body Mass Index. Developed using </a:t>
            </a:r>
            <a:r>
              <a:rPr lang="en-US" spc="70" dirty="0" err="1"/>
              <a:t>theMERN</a:t>
            </a:r>
            <a:r>
              <a:rPr lang="en-US" spc="70" dirty="0"/>
              <a:t> stack (MongoDB, Express.js, React.js, Node.js), </a:t>
            </a:r>
            <a:r>
              <a:rPr lang="en-US" spc="70" dirty="0" err="1"/>
              <a:t>theapplication</a:t>
            </a:r>
            <a:r>
              <a:rPr lang="en-US" spc="70" dirty="0"/>
              <a:t> allows users to register, log in, input their height </a:t>
            </a:r>
            <a:r>
              <a:rPr lang="en-US" spc="70" dirty="0" err="1"/>
              <a:t>andweight</a:t>
            </a:r>
            <a:r>
              <a:rPr lang="en-US" spc="70" dirty="0"/>
              <a:t>, and instantly receive their BMI value along with </a:t>
            </a:r>
            <a:r>
              <a:rPr lang="en-US" spc="70" dirty="0" err="1"/>
              <a:t>anappropriate</a:t>
            </a:r>
            <a:r>
              <a:rPr lang="en-US" spc="70" dirty="0"/>
              <a:t> health category (such as Underweight, </a:t>
            </a:r>
            <a:r>
              <a:rPr lang="en-US" spc="70" dirty="0" err="1"/>
              <a:t>Normal,Overweight</a:t>
            </a:r>
            <a:r>
              <a:rPr lang="en-US" spc="70" dirty="0"/>
              <a:t>, or Obese)</a:t>
            </a:r>
            <a:endParaRPr spc="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7095" y="2817463"/>
            <a:ext cx="8194040" cy="4699000"/>
          </a:xfrm>
          <a:prstGeom prst="rect">
            <a:avLst/>
          </a:prstGeom>
        </p:spPr>
        <p:txBody>
          <a:bodyPr vert="horz" wrap="square" lIns="0" tIns="685165" rIns="0" bIns="0" rtlCol="0">
            <a:spAutoFit/>
          </a:bodyPr>
          <a:lstStyle/>
          <a:p>
            <a:pPr marL="1621790" marR="5080" indent="-1609725">
              <a:lnSpc>
                <a:spcPct val="74800"/>
              </a:lnSpc>
              <a:spcBef>
                <a:spcPts val="5395"/>
              </a:spcBef>
            </a:pPr>
            <a:r>
              <a:rPr sz="17550" spc="-20" dirty="0"/>
              <a:t>THANK </a:t>
            </a:r>
            <a:r>
              <a:rPr sz="17550" spc="-25" dirty="0"/>
              <a:t>YOU</a:t>
            </a:r>
            <a:endParaRPr sz="17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1287</Words>
  <Application>Microsoft Office PowerPoint</Application>
  <PresentationFormat>Custom</PresentationFormat>
  <Paragraphs>67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Times New Roman</vt:lpstr>
      <vt:lpstr>Office Theme</vt:lpstr>
      <vt:lpstr>PowerPoint Presentation</vt:lpstr>
      <vt:lpstr>ABSTRACT</vt:lpstr>
      <vt:lpstr>INTRODUCTION</vt:lpstr>
      <vt:lpstr>EXISTING SYSTEM</vt:lpstr>
      <vt:lpstr>PROPOSED SYSTEM</vt:lpstr>
      <vt:lpstr>MODULE DESCRIPTION</vt:lpstr>
      <vt:lpstr>MODULE DESCRIPTION</vt:lpstr>
      <vt:lpstr>MODULE DESCRIPTION</vt:lpstr>
      <vt:lpstr>ARCHITECTURE DIAGRAM</vt:lpstr>
      <vt:lpstr>ER DIAGRAM</vt:lpstr>
      <vt:lpstr>USECASE DIAGRAM</vt:lpstr>
      <vt:lpstr>DATA FLOW DIAGRAM</vt:lpstr>
      <vt:lpstr>DATA FLOW DIAGRAM DFD LEVEL: 1</vt:lpstr>
      <vt:lpstr>DATA FLOW DIAGRAM DFD LEVEL: 2</vt:lpstr>
      <vt:lpstr>CLASS DIAGRAM</vt:lpstr>
      <vt:lpstr>HARDWARE REQUIREMENTS</vt:lpstr>
      <vt:lpstr>FUTURE ENHANCEMENT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AMEEN PPT</dc:title>
  <dc:creator>Kimjenny Jenny</dc:creator>
  <cp:keywords>DAG5KJyOGJo,BAFjecLB248,0</cp:keywords>
  <cp:lastModifiedBy>Mohamed Malik</cp:lastModifiedBy>
  <cp:revision>2</cp:revision>
  <dcterms:created xsi:type="dcterms:W3CDTF">2025-11-20T04:30:09Z</dcterms:created>
  <dcterms:modified xsi:type="dcterms:W3CDTF">2025-11-20T04:50:31Z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2025-11-20T00:00:00Z</vt:filetime>
  </property>
  <property fmtid="{D5CDD505-2E9C-101B-9397-08002B2CF9AE}" pid="5" name="Producer">
    <vt:lpwstr>Canva</vt:lpwstr>
  </property>
</Properties>
</file>